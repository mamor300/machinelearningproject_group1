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Montserrat" pitchFamily="2" charset="77"/>
      <p:regular r:id="rId26"/>
      <p:bold r:id="rId27"/>
      <p:italic r:id="rId28"/>
      <p:boldItalic r:id="rId29"/>
    </p:embeddedFont>
    <p:embeddedFont>
      <p:font typeface="Montserrat Black" panose="00000A00000000000000" pitchFamily="2" charset="77"/>
      <p:bold r:id="rId30"/>
      <p:boldItalic r:id="rId31"/>
    </p:embeddedFont>
    <p:embeddedFont>
      <p:font typeface="Nunito Light" pitchFamily="2" charset="77"/>
      <p:regular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  <p:embeddedFont>
      <p:font typeface="Roboto Light" panose="020000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DAA5E8-8DA1-4129-999B-C6992B36D5CB}">
  <a:tblStyle styleId="{8CDAA5E8-8DA1-4129-999B-C6992B36D5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871e2392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871e2392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8e28986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8e28986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95c9deb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95c9deb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dirty="0"/>
              <a:t>PC with debt metrics and ended up with 4 components that explains 75% of the variance. </a:t>
            </a: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dirty="0"/>
              <a:t> Cluster analysis: used one of the PC, share of people of color, prop 65+, year, issue, and </a:t>
            </a:r>
            <a:r>
              <a:rPr lang="en" dirty="0" err="1"/>
              <a:t>prop_young</a:t>
            </a: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89517961ff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89517961ff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9312a50f4_4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9312a50f4_4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why interpretability is a lesser consideration: bc company and issue were largely influencing predictions across the models, we could surmise that this is influential already so interpretability is less of a concern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871e2392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871e2392e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recall precision and F1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AIC for Logit = 53617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AIC for OLS = 56682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8e289867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8e289867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class imbalance in the data could be because we combined all the different relief outcomes that weren’t “received relief” into “didn’t receive relief”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Due to optimizing for accuracy, false negative ratio was quite high, could optimize in the future for f1 score or AUC as the selection criteria instead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162 combinations of parameters were chosen for the </a:t>
            </a:r>
            <a:r>
              <a:rPr lang="en" dirty="0" err="1"/>
              <a:t>Catboost</a:t>
            </a:r>
            <a:r>
              <a:rPr lang="en" dirty="0"/>
              <a:t> and if we chose f1 score or AIC as selection criteria the false negative score would likely not have been so high.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8b97b9b1a6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8b97b9b1a6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seems to be going on is that certain companies are more likely to grant relief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9312a50f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9312a50f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 and catboost were nearly identical but catboost ran much faster, neural net did not converge and would always predict 0 (not learning anything). Neural net was run on only 20 variables vs xgboost/catboost run on all 37.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871e2392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871e2392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871e2392e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871e2392e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left is false positive, bottom right is false negative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89f1dd23cd_4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89f1dd23cd_4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95c9deba0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95c9deba0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95c9deba0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95c9deba0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95c9deba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d95c9deba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95c9deba0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d95c9deba0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9312a50f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d9312a50f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95c9deba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d95c9deba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8e2898674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d8e2898674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95c9deba0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d95c9deba0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recall precision and F1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AIC for Logit = 53617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AIC for OLS = 56682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95c9deba0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d95c9deba0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9312a50f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9312a50f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619625"/>
            <a:ext cx="5424000" cy="23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B06E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B06E"/>
              </a:buClr>
              <a:buSzPts val="5200"/>
              <a:buNone/>
              <a:defRPr sz="5200">
                <a:solidFill>
                  <a:srgbClr val="FFB06E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B06E"/>
              </a:buClr>
              <a:buSzPts val="5200"/>
              <a:buNone/>
              <a:defRPr sz="5200">
                <a:solidFill>
                  <a:srgbClr val="FFB06E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B06E"/>
              </a:buClr>
              <a:buSzPts val="5200"/>
              <a:buNone/>
              <a:defRPr sz="5200">
                <a:solidFill>
                  <a:srgbClr val="FFB06E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B06E"/>
              </a:buClr>
              <a:buSzPts val="5200"/>
              <a:buNone/>
              <a:defRPr sz="5200">
                <a:solidFill>
                  <a:srgbClr val="FFB06E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B06E"/>
              </a:buClr>
              <a:buSzPts val="5200"/>
              <a:buNone/>
              <a:defRPr sz="5200">
                <a:solidFill>
                  <a:srgbClr val="FFB06E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B06E"/>
              </a:buClr>
              <a:buSzPts val="5200"/>
              <a:buNone/>
              <a:defRPr sz="5200">
                <a:solidFill>
                  <a:srgbClr val="FFB06E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B06E"/>
              </a:buClr>
              <a:buSzPts val="5200"/>
              <a:buNone/>
              <a:defRPr sz="5200">
                <a:solidFill>
                  <a:srgbClr val="FFB06E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B06E"/>
              </a:buClr>
              <a:buSzPts val="5200"/>
              <a:buNone/>
              <a:defRPr sz="5200">
                <a:solidFill>
                  <a:srgbClr val="FFB06E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062013"/>
            <a:ext cx="2476200" cy="8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05725"/>
            <a:ext cx="2773200" cy="9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720000" y="3062188"/>
            <a:ext cx="2773200" cy="51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33333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33333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33333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33333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33333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33333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33333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33333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533338"/>
            <a:ext cx="1427700" cy="5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Montserrat Black"/>
              <a:buNone/>
              <a:defRPr sz="4000" b="0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subTitle" idx="1"/>
          </p:nvPr>
        </p:nvSpPr>
        <p:spPr>
          <a:xfrm>
            <a:off x="855900" y="1037700"/>
            <a:ext cx="7432200" cy="34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" name="Google Shape;17;p4"/>
          <p:cNvSpPr/>
          <p:nvPr/>
        </p:nvSpPr>
        <p:spPr>
          <a:xfrm flipH="1">
            <a:off x="-7214" y="-7512"/>
            <a:ext cx="727219" cy="5158515"/>
          </a:xfrm>
          <a:custGeom>
            <a:avLst/>
            <a:gdLst/>
            <a:ahLst/>
            <a:cxnLst/>
            <a:rect l="l" t="t" r="r" b="b"/>
            <a:pathLst>
              <a:path w="30772" h="209016" extrusionOk="0">
                <a:moveTo>
                  <a:pt x="0" y="0"/>
                </a:moveTo>
                <a:lnTo>
                  <a:pt x="30771" y="209016"/>
                </a:lnTo>
                <a:lnTo>
                  <a:pt x="307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909450" y="540000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subTitle" idx="1"/>
          </p:nvPr>
        </p:nvSpPr>
        <p:spPr>
          <a:xfrm>
            <a:off x="3215900" y="1844833"/>
            <a:ext cx="3288300" cy="3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2"/>
          </p:nvPr>
        </p:nvSpPr>
        <p:spPr>
          <a:xfrm>
            <a:off x="3215900" y="1473638"/>
            <a:ext cx="21258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/>
          <p:nvPr/>
        </p:nvSpPr>
        <p:spPr>
          <a:xfrm>
            <a:off x="8424001" y="-7512"/>
            <a:ext cx="719988" cy="5158515"/>
          </a:xfrm>
          <a:custGeom>
            <a:avLst/>
            <a:gdLst/>
            <a:ahLst/>
            <a:cxnLst/>
            <a:rect l="l" t="t" r="r" b="b"/>
            <a:pathLst>
              <a:path w="30772" h="209016" extrusionOk="0">
                <a:moveTo>
                  <a:pt x="0" y="0"/>
                </a:moveTo>
                <a:lnTo>
                  <a:pt x="30771" y="209016"/>
                </a:lnTo>
                <a:lnTo>
                  <a:pt x="307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>
            <a:off x="3922350" y="3608950"/>
            <a:ext cx="3710400" cy="3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>
            <a:off x="3922350" y="3237763"/>
            <a:ext cx="21258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1909450" y="540000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 rot="10800000">
            <a:off x="-27" y="-7490"/>
            <a:ext cx="732527" cy="5158515"/>
          </a:xfrm>
          <a:custGeom>
            <a:avLst/>
            <a:gdLst/>
            <a:ahLst/>
            <a:cxnLst/>
            <a:rect l="l" t="t" r="r" b="b"/>
            <a:pathLst>
              <a:path w="30772" h="209016" extrusionOk="0">
                <a:moveTo>
                  <a:pt x="0" y="0"/>
                </a:moveTo>
                <a:lnTo>
                  <a:pt x="30771" y="209016"/>
                </a:lnTo>
                <a:lnTo>
                  <a:pt x="307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909450" y="540000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ubTitle" idx="1"/>
          </p:nvPr>
        </p:nvSpPr>
        <p:spPr>
          <a:xfrm>
            <a:off x="5034925" y="2315875"/>
            <a:ext cx="33891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5598125" y="1879625"/>
            <a:ext cx="28260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238225" y="1542550"/>
            <a:ext cx="6138000" cy="19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rgbClr val="FF9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/>
          <p:nvPr/>
        </p:nvSpPr>
        <p:spPr>
          <a:xfrm flipH="1">
            <a:off x="-545225" y="-58700"/>
            <a:ext cx="2133600" cy="5181600"/>
          </a:xfrm>
          <a:custGeom>
            <a:avLst/>
            <a:gdLst/>
            <a:ahLst/>
            <a:cxnLst/>
            <a:rect l="l" t="t" r="r" b="b"/>
            <a:pathLst>
              <a:path w="85344" h="207264" extrusionOk="0">
                <a:moveTo>
                  <a:pt x="0" y="0"/>
                </a:moveTo>
                <a:lnTo>
                  <a:pt x="85344" y="1524"/>
                </a:lnTo>
                <a:lnTo>
                  <a:pt x="85344" y="207264"/>
                </a:lnTo>
                <a:lnTo>
                  <a:pt x="28194" y="2072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1909450" y="540000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493150" y="1606975"/>
            <a:ext cx="4930800" cy="121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/>
        </p:nvSpPr>
        <p:spPr>
          <a:xfrm>
            <a:off x="2613150" y="3069625"/>
            <a:ext cx="39177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4" name="Google Shape;44;p11"/>
          <p:cNvSpPr txBox="1">
            <a:spLocks noGrp="1"/>
          </p:cNvSpPr>
          <p:nvPr>
            <p:ph type="subTitle" idx="1"/>
          </p:nvPr>
        </p:nvSpPr>
        <p:spPr>
          <a:xfrm>
            <a:off x="5616650" y="2754850"/>
            <a:ext cx="2747100" cy="7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/>
          <p:nvPr/>
        </p:nvSpPr>
        <p:spPr>
          <a:xfrm>
            <a:off x="7041625" y="-75550"/>
            <a:ext cx="2133600" cy="5218908"/>
          </a:xfrm>
          <a:custGeom>
            <a:avLst/>
            <a:gdLst/>
            <a:ahLst/>
            <a:cxnLst/>
            <a:rect l="l" t="t" r="r" b="b"/>
            <a:pathLst>
              <a:path w="85344" h="207264" extrusionOk="0">
                <a:moveTo>
                  <a:pt x="0" y="0"/>
                </a:moveTo>
                <a:lnTo>
                  <a:pt x="85344" y="1524"/>
                </a:lnTo>
                <a:lnTo>
                  <a:pt x="85344" y="207264"/>
                </a:lnTo>
                <a:lnTo>
                  <a:pt x="28194" y="2072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8" name="Google Shape;48;p13"/>
          <p:cNvSpPr txBox="1">
            <a:spLocks noGrp="1"/>
          </p:cNvSpPr>
          <p:nvPr>
            <p:ph type="subTitle" idx="1"/>
          </p:nvPr>
        </p:nvSpPr>
        <p:spPr>
          <a:xfrm>
            <a:off x="720000" y="2063825"/>
            <a:ext cx="23808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2"/>
          </p:nvPr>
        </p:nvSpPr>
        <p:spPr>
          <a:xfrm>
            <a:off x="720000" y="1814475"/>
            <a:ext cx="28236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174025"/>
            <a:ext cx="1427700" cy="6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Montserrat Black"/>
              <a:buNone/>
              <a:defRPr sz="3500" b="0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3"/>
          </p:nvPr>
        </p:nvSpPr>
        <p:spPr>
          <a:xfrm>
            <a:off x="3814825" y="2063825"/>
            <a:ext cx="23808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4" hasCustomPrompt="1"/>
          </p:nvPr>
        </p:nvSpPr>
        <p:spPr>
          <a:xfrm>
            <a:off x="3814825" y="1174025"/>
            <a:ext cx="1427700" cy="6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Montserrat Black"/>
              <a:buNone/>
              <a:defRPr sz="3500" b="0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5"/>
          </p:nvPr>
        </p:nvSpPr>
        <p:spPr>
          <a:xfrm>
            <a:off x="720000" y="3715025"/>
            <a:ext cx="23808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6"/>
          </p:nvPr>
        </p:nvSpPr>
        <p:spPr>
          <a:xfrm>
            <a:off x="720000" y="3465675"/>
            <a:ext cx="28236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2825225"/>
            <a:ext cx="1427700" cy="6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Montserrat Black"/>
              <a:buNone/>
              <a:defRPr sz="3500" b="0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8"/>
          </p:nvPr>
        </p:nvSpPr>
        <p:spPr>
          <a:xfrm>
            <a:off x="3814825" y="3715025"/>
            <a:ext cx="23808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9"/>
          </p:nvPr>
        </p:nvSpPr>
        <p:spPr>
          <a:xfrm>
            <a:off x="3814825" y="3465675"/>
            <a:ext cx="28236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13" hasCustomPrompt="1"/>
          </p:nvPr>
        </p:nvSpPr>
        <p:spPr>
          <a:xfrm>
            <a:off x="3814825" y="2825225"/>
            <a:ext cx="1427700" cy="6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Montserrat Black"/>
              <a:buNone/>
              <a:defRPr sz="3500" b="0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4"/>
          </p:nvPr>
        </p:nvSpPr>
        <p:spPr>
          <a:xfrm>
            <a:off x="3814825" y="1814475"/>
            <a:ext cx="28236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15"/>
          </p:nvPr>
        </p:nvSpPr>
        <p:spPr>
          <a:xfrm>
            <a:off x="720000" y="540000"/>
            <a:ext cx="23223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lists">
  <p:cSld name="CUSTOM_4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 rot="10800000">
            <a:off x="-27" y="-7490"/>
            <a:ext cx="732527" cy="5158515"/>
          </a:xfrm>
          <a:custGeom>
            <a:avLst/>
            <a:gdLst/>
            <a:ahLst/>
            <a:cxnLst/>
            <a:rect l="l" t="t" r="r" b="b"/>
            <a:pathLst>
              <a:path w="30772" h="209016" extrusionOk="0">
                <a:moveTo>
                  <a:pt x="0" y="0"/>
                </a:moveTo>
                <a:lnTo>
                  <a:pt x="30771" y="209016"/>
                </a:lnTo>
                <a:lnTo>
                  <a:pt x="307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750000" y="1732025"/>
            <a:ext cx="3837000" cy="20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rial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2"/>
          </p:nvPr>
        </p:nvSpPr>
        <p:spPr>
          <a:xfrm>
            <a:off x="4587000" y="1732025"/>
            <a:ext cx="3837000" cy="20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720000" y="1264675"/>
            <a:ext cx="954000" cy="2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 idx="3"/>
          </p:nvPr>
        </p:nvSpPr>
        <p:spPr>
          <a:xfrm>
            <a:off x="1909450" y="540000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lists 2">
  <p:cSld name="CUSTOM_4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8424173" y="-7502"/>
            <a:ext cx="732527" cy="5158515"/>
          </a:xfrm>
          <a:custGeom>
            <a:avLst/>
            <a:gdLst/>
            <a:ahLst/>
            <a:cxnLst/>
            <a:rect l="l" t="t" r="r" b="b"/>
            <a:pathLst>
              <a:path w="30772" h="209016" extrusionOk="0">
                <a:moveTo>
                  <a:pt x="0" y="0"/>
                </a:moveTo>
                <a:lnTo>
                  <a:pt x="30771" y="209016"/>
                </a:lnTo>
                <a:lnTo>
                  <a:pt x="307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720000" y="1407575"/>
            <a:ext cx="3837000" cy="21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4587000" y="1407575"/>
            <a:ext cx="3837000" cy="21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1909450" y="540000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Title and three columns">
  <p:cSld name="CUSTOM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3082500" y="1713900"/>
            <a:ext cx="40467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2"/>
          </p:nvPr>
        </p:nvSpPr>
        <p:spPr>
          <a:xfrm>
            <a:off x="3082500" y="1442600"/>
            <a:ext cx="2663100" cy="3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ubTitle" idx="3"/>
          </p:nvPr>
        </p:nvSpPr>
        <p:spPr>
          <a:xfrm>
            <a:off x="3082500" y="2779800"/>
            <a:ext cx="40467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ubTitle" idx="4"/>
          </p:nvPr>
        </p:nvSpPr>
        <p:spPr>
          <a:xfrm>
            <a:off x="3082500" y="2508500"/>
            <a:ext cx="2663100" cy="3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5"/>
          </p:nvPr>
        </p:nvSpPr>
        <p:spPr>
          <a:xfrm>
            <a:off x="3082500" y="3845700"/>
            <a:ext cx="40467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subTitle" idx="6"/>
          </p:nvPr>
        </p:nvSpPr>
        <p:spPr>
          <a:xfrm>
            <a:off x="3082500" y="3574400"/>
            <a:ext cx="2663100" cy="3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8423999" y="-7500"/>
            <a:ext cx="719988" cy="5158515"/>
          </a:xfrm>
          <a:custGeom>
            <a:avLst/>
            <a:gdLst/>
            <a:ahLst/>
            <a:cxnLst/>
            <a:rect l="l" t="t" r="r" b="b"/>
            <a:pathLst>
              <a:path w="30772" h="209016" extrusionOk="0">
                <a:moveTo>
                  <a:pt x="0" y="0"/>
                </a:moveTo>
                <a:lnTo>
                  <a:pt x="30771" y="209016"/>
                </a:lnTo>
                <a:lnTo>
                  <a:pt x="307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1909450" y="540000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Title and three columns 2">
  <p:cSld name="CUSTOM_1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subTitle" idx="1"/>
          </p:nvPr>
        </p:nvSpPr>
        <p:spPr>
          <a:xfrm>
            <a:off x="1615825" y="1713900"/>
            <a:ext cx="22377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2"/>
          </p:nvPr>
        </p:nvSpPr>
        <p:spPr>
          <a:xfrm>
            <a:off x="1615825" y="1390800"/>
            <a:ext cx="26631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3"/>
          </p:nvPr>
        </p:nvSpPr>
        <p:spPr>
          <a:xfrm>
            <a:off x="1615825" y="2779800"/>
            <a:ext cx="23505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4"/>
          </p:nvPr>
        </p:nvSpPr>
        <p:spPr>
          <a:xfrm>
            <a:off x="1615825" y="2456700"/>
            <a:ext cx="26631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5"/>
          </p:nvPr>
        </p:nvSpPr>
        <p:spPr>
          <a:xfrm>
            <a:off x="1615825" y="3845700"/>
            <a:ext cx="23505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6"/>
          </p:nvPr>
        </p:nvSpPr>
        <p:spPr>
          <a:xfrm>
            <a:off x="1615825" y="3522600"/>
            <a:ext cx="26631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579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Title and three columns 1">
  <p:cSld name="CUSTOM_1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subTitle" idx="1"/>
          </p:nvPr>
        </p:nvSpPr>
        <p:spPr>
          <a:xfrm>
            <a:off x="938950" y="3114219"/>
            <a:ext cx="2107800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2"/>
          </p:nvPr>
        </p:nvSpPr>
        <p:spPr>
          <a:xfrm>
            <a:off x="1213975" y="2741725"/>
            <a:ext cx="15576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8423999" y="-7500"/>
            <a:ext cx="719988" cy="5158515"/>
          </a:xfrm>
          <a:custGeom>
            <a:avLst/>
            <a:gdLst/>
            <a:ahLst/>
            <a:cxnLst/>
            <a:rect l="l" t="t" r="r" b="b"/>
            <a:pathLst>
              <a:path w="30772" h="209016" extrusionOk="0">
                <a:moveTo>
                  <a:pt x="0" y="0"/>
                </a:moveTo>
                <a:lnTo>
                  <a:pt x="30771" y="209016"/>
                </a:lnTo>
                <a:lnTo>
                  <a:pt x="307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3" name="Google Shape;93;p18"/>
          <p:cNvSpPr txBox="1">
            <a:spLocks noGrp="1"/>
          </p:cNvSpPr>
          <p:nvPr>
            <p:ph type="subTitle" idx="3"/>
          </p:nvPr>
        </p:nvSpPr>
        <p:spPr>
          <a:xfrm>
            <a:off x="3521850" y="3114219"/>
            <a:ext cx="2107800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ubTitle" idx="4"/>
          </p:nvPr>
        </p:nvSpPr>
        <p:spPr>
          <a:xfrm>
            <a:off x="3806074" y="2741725"/>
            <a:ext cx="15393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ubTitle" idx="5"/>
          </p:nvPr>
        </p:nvSpPr>
        <p:spPr>
          <a:xfrm>
            <a:off x="6107400" y="3106450"/>
            <a:ext cx="2107800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ubTitle" idx="6"/>
          </p:nvPr>
        </p:nvSpPr>
        <p:spPr>
          <a:xfrm>
            <a:off x="6391625" y="2735850"/>
            <a:ext cx="15393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1909450" y="540000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Title and six columns">
  <p:cSld name="CUSTOM_2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subTitle" idx="1"/>
          </p:nvPr>
        </p:nvSpPr>
        <p:spPr>
          <a:xfrm>
            <a:off x="719950" y="2247250"/>
            <a:ext cx="2212200" cy="5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ubTitle" idx="2"/>
          </p:nvPr>
        </p:nvSpPr>
        <p:spPr>
          <a:xfrm>
            <a:off x="886450" y="1952600"/>
            <a:ext cx="18750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ubTitle" idx="3"/>
          </p:nvPr>
        </p:nvSpPr>
        <p:spPr>
          <a:xfrm>
            <a:off x="3465825" y="2247250"/>
            <a:ext cx="2212200" cy="5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ubTitle" idx="4"/>
          </p:nvPr>
        </p:nvSpPr>
        <p:spPr>
          <a:xfrm>
            <a:off x="3632350" y="1952600"/>
            <a:ext cx="18750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ubTitle" idx="5"/>
          </p:nvPr>
        </p:nvSpPr>
        <p:spPr>
          <a:xfrm>
            <a:off x="6211900" y="2247250"/>
            <a:ext cx="2212200" cy="5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subTitle" idx="6"/>
          </p:nvPr>
        </p:nvSpPr>
        <p:spPr>
          <a:xfrm>
            <a:off x="6375113" y="1955825"/>
            <a:ext cx="18750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7"/>
          </p:nvPr>
        </p:nvSpPr>
        <p:spPr>
          <a:xfrm>
            <a:off x="720000" y="4053000"/>
            <a:ext cx="2212200" cy="5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ubTitle" idx="8"/>
          </p:nvPr>
        </p:nvSpPr>
        <p:spPr>
          <a:xfrm>
            <a:off x="886450" y="3758350"/>
            <a:ext cx="18750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9"/>
          </p:nvPr>
        </p:nvSpPr>
        <p:spPr>
          <a:xfrm>
            <a:off x="3465975" y="4053000"/>
            <a:ext cx="2212200" cy="5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subTitle" idx="13"/>
          </p:nvPr>
        </p:nvSpPr>
        <p:spPr>
          <a:xfrm>
            <a:off x="3632350" y="3758350"/>
            <a:ext cx="18750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subTitle" idx="14"/>
          </p:nvPr>
        </p:nvSpPr>
        <p:spPr>
          <a:xfrm>
            <a:off x="6202250" y="4053000"/>
            <a:ext cx="2212200" cy="5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subTitle" idx="15"/>
          </p:nvPr>
        </p:nvSpPr>
        <p:spPr>
          <a:xfrm>
            <a:off x="6370850" y="3758350"/>
            <a:ext cx="18750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2761450" y="540000"/>
            <a:ext cx="3666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5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subTitle" idx="1"/>
          </p:nvPr>
        </p:nvSpPr>
        <p:spPr>
          <a:xfrm>
            <a:off x="5644575" y="2133232"/>
            <a:ext cx="2460000" cy="5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2"/>
          </p:nvPr>
        </p:nvSpPr>
        <p:spPr>
          <a:xfrm>
            <a:off x="5644575" y="1850075"/>
            <a:ext cx="13455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3"/>
          </p:nvPr>
        </p:nvSpPr>
        <p:spPr>
          <a:xfrm>
            <a:off x="5644575" y="3274032"/>
            <a:ext cx="2460000" cy="5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ubTitle" idx="4"/>
          </p:nvPr>
        </p:nvSpPr>
        <p:spPr>
          <a:xfrm>
            <a:off x="5644575" y="2990875"/>
            <a:ext cx="13455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7" name="Google Shape;117;p20"/>
          <p:cNvSpPr/>
          <p:nvPr/>
        </p:nvSpPr>
        <p:spPr>
          <a:xfrm rot="10800000">
            <a:off x="1" y="-12"/>
            <a:ext cx="719988" cy="5158515"/>
          </a:xfrm>
          <a:custGeom>
            <a:avLst/>
            <a:gdLst/>
            <a:ahLst/>
            <a:cxnLst/>
            <a:rect l="l" t="t" r="r" b="b"/>
            <a:pathLst>
              <a:path w="30772" h="209016" extrusionOk="0">
                <a:moveTo>
                  <a:pt x="0" y="0"/>
                </a:moveTo>
                <a:lnTo>
                  <a:pt x="30771" y="209016"/>
                </a:lnTo>
                <a:lnTo>
                  <a:pt x="307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2828925" y="540000"/>
            <a:ext cx="3531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ctrTitle"/>
          </p:nvPr>
        </p:nvSpPr>
        <p:spPr>
          <a:xfrm>
            <a:off x="956825" y="451175"/>
            <a:ext cx="31581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rgbClr val="FFB06E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ubTitle" idx="1"/>
          </p:nvPr>
        </p:nvSpPr>
        <p:spPr>
          <a:xfrm>
            <a:off x="956825" y="1389450"/>
            <a:ext cx="3291300" cy="12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2" name="Google Shape;122;p21"/>
          <p:cNvSpPr txBox="1"/>
          <p:nvPr/>
        </p:nvSpPr>
        <p:spPr>
          <a:xfrm>
            <a:off x="956825" y="3453875"/>
            <a:ext cx="34317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200" b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200" b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, infographics &amp; images by </a:t>
            </a:r>
            <a:r>
              <a:rPr lang="en" sz="1200" b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Title and four columns">
  <p:cSld name="CUSTOM_6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subTitle" idx="1"/>
          </p:nvPr>
        </p:nvSpPr>
        <p:spPr>
          <a:xfrm>
            <a:off x="658325" y="3120175"/>
            <a:ext cx="1797600" cy="7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2"/>
          </p:nvPr>
        </p:nvSpPr>
        <p:spPr>
          <a:xfrm>
            <a:off x="842675" y="2781163"/>
            <a:ext cx="14289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3"/>
          </p:nvPr>
        </p:nvSpPr>
        <p:spPr>
          <a:xfrm>
            <a:off x="2612500" y="3120175"/>
            <a:ext cx="1797600" cy="7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4"/>
          </p:nvPr>
        </p:nvSpPr>
        <p:spPr>
          <a:xfrm>
            <a:off x="2796831" y="2781163"/>
            <a:ext cx="14289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5"/>
          </p:nvPr>
        </p:nvSpPr>
        <p:spPr>
          <a:xfrm>
            <a:off x="4566675" y="3120175"/>
            <a:ext cx="1797600" cy="7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6"/>
          </p:nvPr>
        </p:nvSpPr>
        <p:spPr>
          <a:xfrm>
            <a:off x="4750975" y="2781163"/>
            <a:ext cx="14289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subTitle" idx="7"/>
          </p:nvPr>
        </p:nvSpPr>
        <p:spPr>
          <a:xfrm>
            <a:off x="6520850" y="3120175"/>
            <a:ext cx="1797600" cy="7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ubTitle" idx="8"/>
          </p:nvPr>
        </p:nvSpPr>
        <p:spPr>
          <a:xfrm>
            <a:off x="6612788" y="2781163"/>
            <a:ext cx="16137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8421574" y="0"/>
            <a:ext cx="722450" cy="5158515"/>
          </a:xfrm>
          <a:custGeom>
            <a:avLst/>
            <a:gdLst/>
            <a:ahLst/>
            <a:cxnLst/>
            <a:rect l="l" t="t" r="r" b="b"/>
            <a:pathLst>
              <a:path w="30772" h="209016" extrusionOk="0">
                <a:moveTo>
                  <a:pt x="0" y="0"/>
                </a:moveTo>
                <a:lnTo>
                  <a:pt x="30771" y="209016"/>
                </a:lnTo>
                <a:lnTo>
                  <a:pt x="307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1909450" y="540000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CUSTOM_7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566925" y="1272725"/>
            <a:ext cx="4433700" cy="32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Light"/>
              <a:buChar char="■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○"/>
              <a:defRPr/>
            </a:lvl2pPr>
            <a:lvl3pPr marL="1371600" lvl="2" indent="-32385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2385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 Light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1115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Nunito Light"/>
              <a:buChar char="●"/>
              <a:defRPr/>
            </a:lvl7pPr>
            <a:lvl8pPr marL="3657600" lvl="7" indent="-31115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Nunito Light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4218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8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/>
          <p:nvPr/>
        </p:nvSpPr>
        <p:spPr>
          <a:xfrm>
            <a:off x="8421574" y="0"/>
            <a:ext cx="722450" cy="5158515"/>
          </a:xfrm>
          <a:custGeom>
            <a:avLst/>
            <a:gdLst/>
            <a:ahLst/>
            <a:cxnLst/>
            <a:rect l="l" t="t" r="r" b="b"/>
            <a:pathLst>
              <a:path w="30772" h="209016" extrusionOk="0">
                <a:moveTo>
                  <a:pt x="0" y="0"/>
                </a:moveTo>
                <a:lnTo>
                  <a:pt x="30771" y="209016"/>
                </a:lnTo>
                <a:lnTo>
                  <a:pt x="307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9" name="Google Shape;139;p24"/>
          <p:cNvSpPr txBox="1">
            <a:spLocks noGrp="1"/>
          </p:cNvSpPr>
          <p:nvPr>
            <p:ph type="title"/>
          </p:nvPr>
        </p:nvSpPr>
        <p:spPr>
          <a:xfrm>
            <a:off x="1909450" y="540000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0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subTitle" idx="1"/>
          </p:nvPr>
        </p:nvSpPr>
        <p:spPr>
          <a:xfrm>
            <a:off x="3219325" y="1802613"/>
            <a:ext cx="5204700" cy="10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200"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200"/>
            </a:lvl2pPr>
            <a:lvl3pPr lvl="2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200"/>
            </a:lvl3pPr>
            <a:lvl4pPr lvl="3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200"/>
            </a:lvl4pPr>
            <a:lvl5pPr lvl="4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200"/>
            </a:lvl5pPr>
            <a:lvl6pPr lvl="5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200"/>
            </a:lvl6pPr>
            <a:lvl7pPr lvl="6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200"/>
            </a:lvl7pPr>
            <a:lvl8pPr lvl="7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200"/>
            </a:lvl8pPr>
            <a:lvl9pPr lvl="8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6046400" y="3031400"/>
            <a:ext cx="2377500" cy="2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/>
          <p:nvPr/>
        </p:nvSpPr>
        <p:spPr>
          <a:xfrm flipH="1">
            <a:off x="-29400" y="-37700"/>
            <a:ext cx="2133600" cy="5218908"/>
          </a:xfrm>
          <a:custGeom>
            <a:avLst/>
            <a:gdLst/>
            <a:ahLst/>
            <a:cxnLst/>
            <a:rect l="l" t="t" r="r" b="b"/>
            <a:pathLst>
              <a:path w="85344" h="207264" extrusionOk="0">
                <a:moveTo>
                  <a:pt x="0" y="0"/>
                </a:moveTo>
                <a:lnTo>
                  <a:pt x="85344" y="1524"/>
                </a:lnTo>
                <a:lnTo>
                  <a:pt x="85344" y="207264"/>
                </a:lnTo>
                <a:lnTo>
                  <a:pt x="28194" y="2072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/>
          <p:nvPr/>
        </p:nvSpPr>
        <p:spPr>
          <a:xfrm>
            <a:off x="8423999" y="-7512"/>
            <a:ext cx="722450" cy="5158515"/>
          </a:xfrm>
          <a:custGeom>
            <a:avLst/>
            <a:gdLst/>
            <a:ahLst/>
            <a:cxnLst/>
            <a:rect l="l" t="t" r="r" b="b"/>
            <a:pathLst>
              <a:path w="30772" h="209016" extrusionOk="0">
                <a:moveTo>
                  <a:pt x="0" y="0"/>
                </a:moveTo>
                <a:lnTo>
                  <a:pt x="30771" y="209016"/>
                </a:lnTo>
                <a:lnTo>
                  <a:pt x="307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/>
          <p:nvPr/>
        </p:nvSpPr>
        <p:spPr>
          <a:xfrm rot="10800000">
            <a:off x="-29399" y="0"/>
            <a:ext cx="719988" cy="5158515"/>
          </a:xfrm>
          <a:custGeom>
            <a:avLst/>
            <a:gdLst/>
            <a:ahLst/>
            <a:cxnLst/>
            <a:rect l="l" t="t" r="r" b="b"/>
            <a:pathLst>
              <a:path w="30772" h="209016" extrusionOk="0">
                <a:moveTo>
                  <a:pt x="0" y="0"/>
                </a:moveTo>
                <a:lnTo>
                  <a:pt x="30771" y="209016"/>
                </a:lnTo>
                <a:lnTo>
                  <a:pt x="307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71275"/>
            <a:ext cx="81123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500"/>
              <a:buFont typeface="Montserrat"/>
              <a:buNone/>
              <a:defRPr sz="25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 Light"/>
              <a:buChar char="●"/>
              <a:defRPr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 Light"/>
              <a:buChar char="○"/>
              <a:defRPr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 Light"/>
              <a:buChar char="■"/>
              <a:defRPr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 Light"/>
              <a:buChar char="●"/>
              <a:defRPr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 Light"/>
              <a:buChar char="○"/>
              <a:defRPr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 Light"/>
              <a:buChar char="■"/>
              <a:defRPr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 Light"/>
              <a:buChar char="●"/>
              <a:defRPr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 Light"/>
              <a:buChar char="○"/>
              <a:defRPr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66666"/>
              </a:buClr>
              <a:buSzPts val="1400"/>
              <a:buFont typeface="Roboto Light"/>
              <a:buChar char="■"/>
              <a:defRPr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9"/>
          <p:cNvPicPr preferRelativeResize="0"/>
          <p:nvPr/>
        </p:nvPicPr>
        <p:blipFill rotWithShape="1">
          <a:blip r:embed="rId3">
            <a:alphaModFix/>
          </a:blip>
          <a:srcRect l="37656" t="7211" b="23523"/>
          <a:stretch/>
        </p:blipFill>
        <p:spPr>
          <a:xfrm flipH="1">
            <a:off x="2753101" y="0"/>
            <a:ext cx="6934673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 txBox="1">
            <a:spLocks noGrp="1"/>
          </p:cNvSpPr>
          <p:nvPr>
            <p:ph type="ctrTitle"/>
          </p:nvPr>
        </p:nvSpPr>
        <p:spPr>
          <a:xfrm>
            <a:off x="720000" y="1020825"/>
            <a:ext cx="7382400" cy="18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Credit Card Debt Relief</a:t>
            </a:r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subTitle" idx="1"/>
          </p:nvPr>
        </p:nvSpPr>
        <p:spPr>
          <a:xfrm>
            <a:off x="720000" y="3062025"/>
            <a:ext cx="3651300" cy="8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Machine Learning for Economics 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Matt Amor 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Alan Samuel 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Adriana Soto 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Daniel Temprano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56" name="Google Shape;156;p29"/>
          <p:cNvSpPr/>
          <p:nvPr/>
        </p:nvSpPr>
        <p:spPr>
          <a:xfrm>
            <a:off x="7661713" y="-19062"/>
            <a:ext cx="2026067" cy="5181600"/>
          </a:xfrm>
          <a:custGeom>
            <a:avLst/>
            <a:gdLst/>
            <a:ahLst/>
            <a:cxnLst/>
            <a:rect l="l" t="t" r="r" b="b"/>
            <a:pathLst>
              <a:path w="85344" h="207264" extrusionOk="0">
                <a:moveTo>
                  <a:pt x="0" y="0"/>
                </a:moveTo>
                <a:lnTo>
                  <a:pt x="85344" y="1524"/>
                </a:lnTo>
                <a:lnTo>
                  <a:pt x="85344" y="207264"/>
                </a:lnTo>
                <a:lnTo>
                  <a:pt x="28194" y="2072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0"/>
          <p:cNvPicPr preferRelativeResize="0"/>
          <p:nvPr/>
        </p:nvPicPr>
        <p:blipFill rotWithShape="1">
          <a:blip r:embed="rId3">
            <a:alphaModFix/>
          </a:blip>
          <a:srcRect l="13202"/>
          <a:stretch/>
        </p:blipFill>
        <p:spPr>
          <a:xfrm>
            <a:off x="-946875" y="0"/>
            <a:ext cx="3433500" cy="5143500"/>
          </a:xfrm>
          <a:prstGeom prst="trapezoid">
            <a:avLst>
              <a:gd name="adj" fmla="val 21078"/>
            </a:avLst>
          </a:prstGeom>
          <a:noFill/>
          <a:ln>
            <a:noFill/>
          </a:ln>
        </p:spPr>
      </p:pic>
      <p:sp>
        <p:nvSpPr>
          <p:cNvPr id="162" name="Google Shape;162;p30"/>
          <p:cNvSpPr/>
          <p:nvPr/>
        </p:nvSpPr>
        <p:spPr>
          <a:xfrm flipH="1">
            <a:off x="-946875" y="-38100"/>
            <a:ext cx="2133600" cy="5181600"/>
          </a:xfrm>
          <a:custGeom>
            <a:avLst/>
            <a:gdLst/>
            <a:ahLst/>
            <a:cxnLst/>
            <a:rect l="l" t="t" r="r" b="b"/>
            <a:pathLst>
              <a:path w="85344" h="207264" extrusionOk="0">
                <a:moveTo>
                  <a:pt x="0" y="0"/>
                </a:moveTo>
                <a:lnTo>
                  <a:pt x="85344" y="1524"/>
                </a:lnTo>
                <a:lnTo>
                  <a:pt x="85344" y="207264"/>
                </a:lnTo>
                <a:lnTo>
                  <a:pt x="28194" y="2072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Google Shape;163;p30"/>
          <p:cNvSpPr txBox="1">
            <a:spLocks noGrp="1"/>
          </p:cNvSpPr>
          <p:nvPr>
            <p:ph type="title" idx="4294967295"/>
          </p:nvPr>
        </p:nvSpPr>
        <p:spPr>
          <a:xfrm>
            <a:off x="3184941" y="432625"/>
            <a:ext cx="4827000" cy="4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 &amp; Data</a:t>
            </a:r>
            <a:endParaRPr/>
          </a:p>
        </p:txBody>
      </p:sp>
      <p:sp>
        <p:nvSpPr>
          <p:cNvPr id="164" name="Google Shape;164;p30"/>
          <p:cNvSpPr/>
          <p:nvPr/>
        </p:nvSpPr>
        <p:spPr>
          <a:xfrm>
            <a:off x="2795500" y="1228788"/>
            <a:ext cx="5740200" cy="747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5" name="Google Shape;165;p30"/>
          <p:cNvSpPr/>
          <p:nvPr/>
        </p:nvSpPr>
        <p:spPr>
          <a:xfrm>
            <a:off x="2795500" y="2394288"/>
            <a:ext cx="5740200" cy="747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6" name="Google Shape;166;p30"/>
          <p:cNvSpPr/>
          <p:nvPr/>
        </p:nvSpPr>
        <p:spPr>
          <a:xfrm>
            <a:off x="2795500" y="3448113"/>
            <a:ext cx="5740200" cy="747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7" name="Google Shape;167;p30"/>
          <p:cNvSpPr txBox="1"/>
          <p:nvPr/>
        </p:nvSpPr>
        <p:spPr>
          <a:xfrm>
            <a:off x="2795500" y="1248288"/>
            <a:ext cx="57402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Predicting whether relief is given for credit card debt collection complaints filed in the U.S. with the CFPB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30"/>
          <p:cNvSpPr txBox="1"/>
          <p:nvPr/>
        </p:nvSpPr>
        <p:spPr>
          <a:xfrm>
            <a:off x="2795500" y="2386525"/>
            <a:ext cx="57402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Using Consumer Financial Protection Bureau (CFPB) data on relief granted for credit card debt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30"/>
          <p:cNvSpPr txBox="1"/>
          <p:nvPr/>
        </p:nvSpPr>
        <p:spPr>
          <a:xfrm>
            <a:off x="2795500" y="3428588"/>
            <a:ext cx="4827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Checking for ethical considerations in model prediction for age 65+ populations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/>
          <p:nvPr/>
        </p:nvSpPr>
        <p:spPr>
          <a:xfrm flipH="1">
            <a:off x="-946875" y="-38100"/>
            <a:ext cx="2133600" cy="5181600"/>
          </a:xfrm>
          <a:custGeom>
            <a:avLst/>
            <a:gdLst/>
            <a:ahLst/>
            <a:cxnLst/>
            <a:rect l="l" t="t" r="r" b="b"/>
            <a:pathLst>
              <a:path w="85344" h="207264" extrusionOk="0">
                <a:moveTo>
                  <a:pt x="0" y="0"/>
                </a:moveTo>
                <a:lnTo>
                  <a:pt x="85344" y="1524"/>
                </a:lnTo>
                <a:lnTo>
                  <a:pt x="85344" y="207264"/>
                </a:lnTo>
                <a:lnTo>
                  <a:pt x="28194" y="2072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Google Shape;175;p31"/>
          <p:cNvSpPr txBox="1">
            <a:spLocks noGrp="1"/>
          </p:cNvSpPr>
          <p:nvPr>
            <p:ph type="title" idx="4294967295"/>
          </p:nvPr>
        </p:nvSpPr>
        <p:spPr>
          <a:xfrm>
            <a:off x="3313250" y="282125"/>
            <a:ext cx="44271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Discussion</a:t>
            </a:r>
            <a:endParaRPr/>
          </a:p>
        </p:txBody>
      </p:sp>
      <p:sp>
        <p:nvSpPr>
          <p:cNvPr id="176" name="Google Shape;176;p31"/>
          <p:cNvSpPr txBox="1"/>
          <p:nvPr/>
        </p:nvSpPr>
        <p:spPr>
          <a:xfrm>
            <a:off x="1499839" y="1050775"/>
            <a:ext cx="72111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Missing Data</a:t>
            </a:r>
            <a:endParaRPr sz="1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ZIP codes: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11.6% missing/incomplete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Imputed using K-nearest neighbor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Compared with random forest imputation on three metrics of accuracy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Measures of debt: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Median imputation over 5 years for insecurity measures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Student, auto, and medical debt were snapshots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Unsystematic missing values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Random forest imputation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/>
          <p:nvPr/>
        </p:nvSpPr>
        <p:spPr>
          <a:xfrm flipH="1">
            <a:off x="-946875" y="-38100"/>
            <a:ext cx="2133600" cy="5181600"/>
          </a:xfrm>
          <a:custGeom>
            <a:avLst/>
            <a:gdLst/>
            <a:ahLst/>
            <a:cxnLst/>
            <a:rect l="l" t="t" r="r" b="b"/>
            <a:pathLst>
              <a:path w="85344" h="207264" extrusionOk="0">
                <a:moveTo>
                  <a:pt x="0" y="0"/>
                </a:moveTo>
                <a:lnTo>
                  <a:pt x="85344" y="1524"/>
                </a:lnTo>
                <a:lnTo>
                  <a:pt x="85344" y="207264"/>
                </a:lnTo>
                <a:lnTo>
                  <a:pt x="28194" y="2072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 idx="4294967295"/>
          </p:nvPr>
        </p:nvSpPr>
        <p:spPr>
          <a:xfrm>
            <a:off x="3313250" y="282125"/>
            <a:ext cx="44271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Discussion</a:t>
            </a:r>
            <a:endParaRPr/>
          </a:p>
        </p:txBody>
      </p:sp>
      <p:sp>
        <p:nvSpPr>
          <p:cNvPr id="183" name="Google Shape;183;p32"/>
          <p:cNvSpPr txBox="1"/>
          <p:nvPr/>
        </p:nvSpPr>
        <p:spPr>
          <a:xfrm>
            <a:off x="1527800" y="572100"/>
            <a:ext cx="7026000" cy="45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Final dataset: 61,656 observations, 37 predictors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Economic variables: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Local financial stress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Percent uninsured in area (SAHIE)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Housing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Housing permit application count (Census)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Cost of living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Fair Market Rent (HUD)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Education: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Percentage of 25+ population with a bachelors or higher degree (Census)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ZIP/FIPS removal due to: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Computational efficiency concerns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Geographic variable ended up being State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Other variables (ie proportion female, proportion black, etc) explains the model meaningfully without ZIP/FIPS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Principal components: based on debt metrics – 4 PC’s explain 75% of variance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Interactions: demographic variables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Clusters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3"/>
          <p:cNvPicPr preferRelativeResize="0"/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>
            <a:off x="4310174" y="7525"/>
            <a:ext cx="7715100" cy="5143500"/>
          </a:xfrm>
          <a:prstGeom prst="parallelogram">
            <a:avLst>
              <a:gd name="adj" fmla="val 19234"/>
            </a:avLst>
          </a:prstGeom>
          <a:noFill/>
          <a:ln>
            <a:noFill/>
          </a:ln>
        </p:spPr>
      </p:pic>
      <p:sp>
        <p:nvSpPr>
          <p:cNvPr id="189" name="Google Shape;189;p33"/>
          <p:cNvSpPr txBox="1">
            <a:spLocks noGrp="1"/>
          </p:cNvSpPr>
          <p:nvPr>
            <p:ph type="title" idx="2"/>
          </p:nvPr>
        </p:nvSpPr>
        <p:spPr>
          <a:xfrm>
            <a:off x="720000" y="1533338"/>
            <a:ext cx="1427700" cy="5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0" name="Google Shape;190;p33"/>
          <p:cNvSpPr txBox="1">
            <a:spLocks noGrp="1"/>
          </p:cNvSpPr>
          <p:nvPr>
            <p:ph type="title"/>
          </p:nvPr>
        </p:nvSpPr>
        <p:spPr>
          <a:xfrm>
            <a:off x="720000" y="2041900"/>
            <a:ext cx="4482300" cy="9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100"/>
              <a:t>Model Selection</a:t>
            </a:r>
            <a:endParaRPr sz="3100"/>
          </a:p>
        </p:txBody>
      </p:sp>
      <p:sp>
        <p:nvSpPr>
          <p:cNvPr id="191" name="Google Shape;191;p33"/>
          <p:cNvSpPr/>
          <p:nvPr/>
        </p:nvSpPr>
        <p:spPr>
          <a:xfrm>
            <a:off x="7603125" y="-58700"/>
            <a:ext cx="2269297" cy="5181600"/>
          </a:xfrm>
          <a:custGeom>
            <a:avLst/>
            <a:gdLst/>
            <a:ahLst/>
            <a:cxnLst/>
            <a:rect l="l" t="t" r="r" b="b"/>
            <a:pathLst>
              <a:path w="85344" h="207264" extrusionOk="0">
                <a:moveTo>
                  <a:pt x="0" y="0"/>
                </a:moveTo>
                <a:lnTo>
                  <a:pt x="85344" y="1524"/>
                </a:lnTo>
                <a:lnTo>
                  <a:pt x="85344" y="207264"/>
                </a:lnTo>
                <a:lnTo>
                  <a:pt x="28194" y="2072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>
            <a:spLocks noGrp="1"/>
          </p:cNvSpPr>
          <p:nvPr>
            <p:ph type="title"/>
          </p:nvPr>
        </p:nvSpPr>
        <p:spPr>
          <a:xfrm>
            <a:off x="2806200" y="131350"/>
            <a:ext cx="3531600" cy="4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Priorities</a:t>
            </a:r>
            <a:endParaRPr/>
          </a:p>
        </p:txBody>
      </p:sp>
      <p:sp>
        <p:nvSpPr>
          <p:cNvPr id="197" name="Google Shape;197;p34"/>
          <p:cNvSpPr txBox="1"/>
          <p:nvPr/>
        </p:nvSpPr>
        <p:spPr>
          <a:xfrm>
            <a:off x="916950" y="401121"/>
            <a:ext cx="8128500" cy="4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Accuracy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romanLcPeriod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Final Model should be more than 73% baseline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romanLcPeriod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Focusing on false negatives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Mitigating Future Bias</a:t>
            </a:r>
            <a:endParaRPr sz="1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romanLcPeriod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want to avoid adding bias in future iterations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Ethical Considerations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latin typeface="Roboto"/>
                <a:ea typeface="Roboto"/>
                <a:cs typeface="Roboto"/>
                <a:sym typeface="Roboto"/>
              </a:rPr>
              <a:t>Lesser considerations: </a:t>
            </a:r>
            <a:endParaRPr sz="1900" u="sng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u="sng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Interpretability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Computational efficiency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>
            <a:spLocks noGrp="1"/>
          </p:cNvSpPr>
          <p:nvPr>
            <p:ph type="title"/>
          </p:nvPr>
        </p:nvSpPr>
        <p:spPr>
          <a:xfrm>
            <a:off x="2761450" y="540000"/>
            <a:ext cx="3666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Selection: Winners and Losers</a:t>
            </a:r>
            <a:endParaRPr/>
          </a:p>
        </p:txBody>
      </p:sp>
      <p:sp>
        <p:nvSpPr>
          <p:cNvPr id="203" name="Google Shape;203;p35"/>
          <p:cNvSpPr/>
          <p:nvPr/>
        </p:nvSpPr>
        <p:spPr>
          <a:xfrm rot="10800000">
            <a:off x="-22" y="-7515"/>
            <a:ext cx="725296" cy="5158515"/>
          </a:xfrm>
          <a:custGeom>
            <a:avLst/>
            <a:gdLst/>
            <a:ahLst/>
            <a:cxnLst/>
            <a:rect l="l" t="t" r="r" b="b"/>
            <a:pathLst>
              <a:path w="30772" h="209016" extrusionOk="0">
                <a:moveTo>
                  <a:pt x="0" y="0"/>
                </a:moveTo>
                <a:lnTo>
                  <a:pt x="30771" y="209016"/>
                </a:lnTo>
                <a:lnTo>
                  <a:pt x="307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graphicFrame>
        <p:nvGraphicFramePr>
          <p:cNvPr id="204" name="Google Shape;204;p35"/>
          <p:cNvGraphicFramePr/>
          <p:nvPr/>
        </p:nvGraphicFramePr>
        <p:xfrm>
          <a:off x="468649" y="1251893"/>
          <a:ext cx="8206700" cy="2911540"/>
        </p:xfrm>
        <a:graphic>
          <a:graphicData uri="http://schemas.openxmlformats.org/drawingml/2006/table">
            <a:tbl>
              <a:tblPr>
                <a:noFill/>
                <a:tableStyleId>{8CDAA5E8-8DA1-4129-999B-C6992B36D5CB}</a:tableStyleId>
              </a:tblPr>
              <a:tblGrid>
                <a:gridCol w="106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0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0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9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CATboost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Xgboost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OLS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Logit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Random Forest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Lasso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CART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Neural Net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8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Accuracy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80.55%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80.54%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78.3%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78.8%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79.6%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78.62%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79.18%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73.76%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F1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0.549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False Pos.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6.4%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6.5%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5.9%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6.9%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2.5%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6.38%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7.05%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49.37%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False Neg.</a:t>
                      </a:r>
                      <a:endParaRPr b="1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55.4%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55.2%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65.1%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62.8%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70.4%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63.19%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59.2%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25.69%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>
            <a:spLocks noGrp="1"/>
          </p:cNvSpPr>
          <p:nvPr>
            <p:ph type="title"/>
          </p:nvPr>
        </p:nvSpPr>
        <p:spPr>
          <a:xfrm>
            <a:off x="2201550" y="397125"/>
            <a:ext cx="4740900" cy="3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Model: CatBoost </a:t>
            </a:r>
            <a:endParaRPr/>
          </a:p>
        </p:txBody>
      </p:sp>
      <p:sp>
        <p:nvSpPr>
          <p:cNvPr id="210" name="Google Shape;210;p36"/>
          <p:cNvSpPr/>
          <p:nvPr/>
        </p:nvSpPr>
        <p:spPr>
          <a:xfrm rot="10800000">
            <a:off x="-22" y="-7515"/>
            <a:ext cx="725296" cy="5158515"/>
          </a:xfrm>
          <a:custGeom>
            <a:avLst/>
            <a:gdLst/>
            <a:ahLst/>
            <a:cxnLst/>
            <a:rect l="l" t="t" r="r" b="b"/>
            <a:pathLst>
              <a:path w="30772" h="209016" extrusionOk="0">
                <a:moveTo>
                  <a:pt x="0" y="0"/>
                </a:moveTo>
                <a:lnTo>
                  <a:pt x="30771" y="209016"/>
                </a:lnTo>
                <a:lnTo>
                  <a:pt x="307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11" name="Google Shape;211;p36"/>
          <p:cNvSpPr txBox="1"/>
          <p:nvPr/>
        </p:nvSpPr>
        <p:spPr>
          <a:xfrm>
            <a:off x="1025250" y="828975"/>
            <a:ext cx="70935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Roboto"/>
                <a:ea typeface="Roboto"/>
                <a:cs typeface="Roboto"/>
                <a:sym typeface="Roboto"/>
              </a:rPr>
              <a:t>Model Metrics:</a:t>
            </a:r>
            <a:endParaRPr sz="1800" b="1"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Loss function: logloss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Hyperparameters: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depth: 2/4/6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Run time: 2 hours (compared to 12 for XGboost)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Learning rate: 0.05/0.1/0.3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Balanced accuracy: 69.1%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Dataset was imbalanced (more rejections than acceptances of relief)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Subset sample percentage correctly predicted relief: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Results:  </a:t>
            </a:r>
            <a:endParaRPr sz="1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500"/>
              <a:buFont typeface="Roboto"/>
              <a:buChar char="●"/>
            </a:pPr>
            <a:r>
              <a:rPr lang="en" sz="1500" b="1">
                <a:solidFill>
                  <a:srgbClr val="990000"/>
                </a:solidFill>
                <a:latin typeface="Roboto"/>
                <a:ea typeface="Roboto"/>
                <a:cs typeface="Roboto"/>
                <a:sym typeface="Roboto"/>
              </a:rPr>
              <a:t>Catboost performed marginally better than XGboost</a:t>
            </a:r>
            <a:endParaRPr sz="1500" b="1">
              <a:solidFill>
                <a:srgbClr val="99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Comparable false negative rate to XGboost, and better than other models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More computationally efficient than XGboost on categorical data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 important variables: company, issue,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/>
          <p:nvPr/>
        </p:nvSpPr>
        <p:spPr>
          <a:xfrm>
            <a:off x="8186700" y="0"/>
            <a:ext cx="957300" cy="5229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7" name="Google Shape;217;p37"/>
          <p:cNvSpPr txBox="1">
            <a:spLocks noGrp="1"/>
          </p:cNvSpPr>
          <p:nvPr>
            <p:ph type="title"/>
          </p:nvPr>
        </p:nvSpPr>
        <p:spPr>
          <a:xfrm>
            <a:off x="1886700" y="217075"/>
            <a:ext cx="5370600" cy="4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Interpretation</a:t>
            </a:r>
            <a:endParaRPr/>
          </a:p>
        </p:txBody>
      </p:sp>
      <p:sp>
        <p:nvSpPr>
          <p:cNvPr id="218" name="Google Shape;218;p37"/>
          <p:cNvSpPr txBox="1"/>
          <p:nvPr/>
        </p:nvSpPr>
        <p:spPr>
          <a:xfrm>
            <a:off x="716925" y="689875"/>
            <a:ext cx="7093500" cy="1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858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Across the models, credit bureaus are more likely to grant relief than banks 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68580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(TransUnion, Experian, and Equifax)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9" name="Google Shape;219;p37" title="WhatsApp Image 2026-04-24 at 5.12.24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813" y="1317200"/>
            <a:ext cx="8378376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7"/>
          <p:cNvSpPr/>
          <p:nvPr/>
        </p:nvSpPr>
        <p:spPr>
          <a:xfrm flipH="1">
            <a:off x="-246900" y="-259775"/>
            <a:ext cx="2133600" cy="1426494"/>
          </a:xfrm>
          <a:custGeom>
            <a:avLst/>
            <a:gdLst/>
            <a:ahLst/>
            <a:cxnLst/>
            <a:rect l="l" t="t" r="r" b="b"/>
            <a:pathLst>
              <a:path w="85344" h="207264" extrusionOk="0">
                <a:moveTo>
                  <a:pt x="0" y="0"/>
                </a:moveTo>
                <a:lnTo>
                  <a:pt x="85344" y="1524"/>
                </a:lnTo>
                <a:lnTo>
                  <a:pt x="85344" y="207264"/>
                </a:lnTo>
                <a:lnTo>
                  <a:pt x="28194" y="2072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>
            <a:spLocks noGrp="1"/>
          </p:cNvSpPr>
          <p:nvPr>
            <p:ph type="title"/>
          </p:nvPr>
        </p:nvSpPr>
        <p:spPr>
          <a:xfrm>
            <a:off x="2755563" y="191100"/>
            <a:ext cx="3794100" cy="62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not chosen</a:t>
            </a:r>
            <a:endParaRPr/>
          </a:p>
        </p:txBody>
      </p:sp>
      <p:sp>
        <p:nvSpPr>
          <p:cNvPr id="226" name="Google Shape;226;p38"/>
          <p:cNvSpPr txBox="1"/>
          <p:nvPr/>
        </p:nvSpPr>
        <p:spPr>
          <a:xfrm>
            <a:off x="935025" y="814800"/>
            <a:ext cx="7435200" cy="35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OLS, Logit,  Random Forest, Lasso, CART, Neural Net.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models had a </a:t>
            </a:r>
            <a:r>
              <a:rPr lang="en" b="1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higher false negative rate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than the CatBoost model chosen.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27" name="Google Shape;227;p38"/>
          <p:cNvGraphicFramePr/>
          <p:nvPr/>
        </p:nvGraphicFramePr>
        <p:xfrm>
          <a:off x="392525" y="1562075"/>
          <a:ext cx="8358925" cy="2753640"/>
        </p:xfrm>
        <a:graphic>
          <a:graphicData uri="http://schemas.openxmlformats.org/drawingml/2006/table">
            <a:tbl>
              <a:tblPr>
                <a:noFill/>
                <a:tableStyleId>{8CDAA5E8-8DA1-4129-999B-C6992B36D5CB}</a:tableStyleId>
              </a:tblPr>
              <a:tblGrid>
                <a:gridCol w="89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8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OLS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Logit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Random Forest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Lasso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CART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Neural Net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Reason: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OLS was least accurate and the relationship clearly wasn’t linear.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Logit was not chosen as it did not perform better in accuracy at 78.8%.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RF was not chosen as it did not perform better in accuracy at 78.13%.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LASSO was not chosen as it did not perform better in accuracy  at 78.16%.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CART was easily interpretable with an accuracy of 78.89%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Neural Net did not converge and did not yield an accurate or interpretable model.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9"/>
          <p:cNvPicPr preferRelativeResize="0"/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>
            <a:off x="4310174" y="7525"/>
            <a:ext cx="7715100" cy="5143500"/>
          </a:xfrm>
          <a:prstGeom prst="parallelogram">
            <a:avLst>
              <a:gd name="adj" fmla="val 19234"/>
            </a:avLst>
          </a:prstGeom>
          <a:noFill/>
          <a:ln>
            <a:noFill/>
          </a:ln>
        </p:spPr>
      </p:pic>
      <p:sp>
        <p:nvSpPr>
          <p:cNvPr id="233" name="Google Shape;233;p39"/>
          <p:cNvSpPr txBox="1">
            <a:spLocks noGrp="1"/>
          </p:cNvSpPr>
          <p:nvPr>
            <p:ph type="title" idx="2"/>
          </p:nvPr>
        </p:nvSpPr>
        <p:spPr>
          <a:xfrm>
            <a:off x="605382" y="1533338"/>
            <a:ext cx="1427700" cy="5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490763" y="2041900"/>
            <a:ext cx="4496400" cy="9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Test Data</a:t>
            </a:r>
            <a:endParaRPr/>
          </a:p>
        </p:txBody>
      </p:sp>
      <p:sp>
        <p:nvSpPr>
          <p:cNvPr id="235" name="Google Shape;235;p39"/>
          <p:cNvSpPr/>
          <p:nvPr/>
        </p:nvSpPr>
        <p:spPr>
          <a:xfrm>
            <a:off x="7603125" y="-58700"/>
            <a:ext cx="2269297" cy="5181600"/>
          </a:xfrm>
          <a:custGeom>
            <a:avLst/>
            <a:gdLst/>
            <a:ahLst/>
            <a:cxnLst/>
            <a:rect l="l" t="t" r="r" b="b"/>
            <a:pathLst>
              <a:path w="85344" h="207264" extrusionOk="0">
                <a:moveTo>
                  <a:pt x="0" y="0"/>
                </a:moveTo>
                <a:lnTo>
                  <a:pt x="85344" y="1524"/>
                </a:lnTo>
                <a:lnTo>
                  <a:pt x="85344" y="207264"/>
                </a:lnTo>
                <a:lnTo>
                  <a:pt x="28194" y="2072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/>
          <p:nvPr/>
        </p:nvSpPr>
        <p:spPr>
          <a:xfrm>
            <a:off x="8186700" y="0"/>
            <a:ext cx="957300" cy="5229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41" name="Google Shape;241;p40"/>
          <p:cNvSpPr txBox="1">
            <a:spLocks noGrp="1"/>
          </p:cNvSpPr>
          <p:nvPr>
            <p:ph type="title"/>
          </p:nvPr>
        </p:nvSpPr>
        <p:spPr>
          <a:xfrm>
            <a:off x="1886700" y="159900"/>
            <a:ext cx="5370600" cy="51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Data Confusion Matrix</a:t>
            </a:r>
            <a:endParaRPr/>
          </a:p>
        </p:txBody>
      </p:sp>
      <p:sp>
        <p:nvSpPr>
          <p:cNvPr id="242" name="Google Shape;242;p40"/>
          <p:cNvSpPr txBox="1"/>
          <p:nvPr/>
        </p:nvSpPr>
        <p:spPr>
          <a:xfrm>
            <a:off x="582325" y="675600"/>
            <a:ext cx="70935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Roboto"/>
                <a:ea typeface="Roboto"/>
                <a:cs typeface="Roboto"/>
                <a:sym typeface="Roboto"/>
              </a:rPr>
              <a:t>CatBoost leaned towards predicting no relief 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3" name="Google Shape;243;p40" title="WhatsApp Image 2026-04-24 at 7.49.59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425" y="1173088"/>
            <a:ext cx="8545152" cy="3460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>
            <a:spLocks noGrp="1"/>
          </p:cNvSpPr>
          <p:nvPr>
            <p:ph type="title" idx="3"/>
          </p:nvPr>
        </p:nvSpPr>
        <p:spPr>
          <a:xfrm>
            <a:off x="1909450" y="540000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of Living </a:t>
            </a:r>
            <a:endParaRPr/>
          </a:p>
        </p:txBody>
      </p:sp>
      <p:sp>
        <p:nvSpPr>
          <p:cNvPr id="249" name="Google Shape;249;p41"/>
          <p:cNvSpPr txBox="1">
            <a:spLocks noGrp="1"/>
          </p:cNvSpPr>
          <p:nvPr>
            <p:ph type="body" idx="1"/>
          </p:nvPr>
        </p:nvSpPr>
        <p:spPr>
          <a:xfrm>
            <a:off x="1050925" y="1297475"/>
            <a:ext cx="6833400" cy="20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508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Fair Market Rent</a:t>
            </a:r>
            <a:endParaRPr b="1">
              <a:solidFill>
                <a:schemeClr val="dk1"/>
              </a:solidFill>
            </a:endParaRPr>
          </a:p>
          <a:p>
            <a:pPr marL="914400" marR="508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We tested for the change in predicted probability of relief in the 25th and 75th percentiles</a:t>
            </a:r>
            <a:endParaRPr b="1">
              <a:solidFill>
                <a:schemeClr val="dk1"/>
              </a:solidFill>
            </a:endParaRPr>
          </a:p>
          <a:p>
            <a:pPr marL="914400" marR="508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Holding other variables constant, in both groups the predicted relief was identical at 21.4%</a:t>
            </a:r>
            <a:endParaRPr>
              <a:solidFill>
                <a:schemeClr val="dk1"/>
              </a:solidFill>
            </a:endParaRPr>
          </a:p>
          <a:p>
            <a:pPr marL="914400" marR="508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Given the outsized importance of other variables, this result is not surprising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>
            <a:spLocks noGrp="1"/>
          </p:cNvSpPr>
          <p:nvPr>
            <p:ph type="title" idx="3"/>
          </p:nvPr>
        </p:nvSpPr>
        <p:spPr>
          <a:xfrm>
            <a:off x="1909450" y="540000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Ethical Considerations</a:t>
            </a:r>
            <a:endParaRPr/>
          </a:p>
        </p:txBody>
      </p:sp>
      <p:sp>
        <p:nvSpPr>
          <p:cNvPr id="255" name="Google Shape;255;p42"/>
          <p:cNvSpPr txBox="1">
            <a:spLocks noGrp="1"/>
          </p:cNvSpPr>
          <p:nvPr>
            <p:ph type="body" idx="1"/>
          </p:nvPr>
        </p:nvSpPr>
        <p:spPr>
          <a:xfrm>
            <a:off x="1144600" y="1543200"/>
            <a:ext cx="6833400" cy="20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508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Proportion of Population aged 65+ </a:t>
            </a:r>
            <a:endParaRPr b="1">
              <a:solidFill>
                <a:schemeClr val="dk1"/>
              </a:solidFill>
            </a:endParaRPr>
          </a:p>
          <a:p>
            <a:pPr marL="914400" marR="508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The model was biased towards not granting relief to seniors</a:t>
            </a:r>
            <a:endParaRPr>
              <a:solidFill>
                <a:schemeClr val="dk1"/>
              </a:solidFill>
            </a:endParaRPr>
          </a:p>
          <a:p>
            <a:pPr marL="914400" marR="508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Threshold for being considered an older county is 62% (CFPB)</a:t>
            </a:r>
            <a:endParaRPr>
              <a:solidFill>
                <a:schemeClr val="dk1"/>
              </a:solidFill>
            </a:endParaRPr>
          </a:p>
          <a:p>
            <a:pPr marL="914400" marR="508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69.5% false negative (as compared to 55.2% full)</a:t>
            </a:r>
            <a:endParaRPr>
              <a:solidFill>
                <a:schemeClr val="dk1"/>
              </a:solidFill>
            </a:endParaRPr>
          </a:p>
          <a:p>
            <a:pPr marL="457200" marR="508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 b="1">
                <a:solidFill>
                  <a:schemeClr val="dk1"/>
                </a:solidFill>
              </a:rPr>
              <a:t>Proportion Black Population: </a:t>
            </a:r>
            <a:endParaRPr b="1">
              <a:solidFill>
                <a:schemeClr val="dk1"/>
              </a:solidFill>
            </a:endParaRPr>
          </a:p>
          <a:p>
            <a:pPr marL="914400" marR="508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Pew national average black population (2023): 14.4%</a:t>
            </a:r>
            <a:endParaRPr>
              <a:solidFill>
                <a:schemeClr val="dk1"/>
              </a:solidFill>
            </a:endParaRPr>
          </a:p>
          <a:p>
            <a:pPr marL="914400" marR="508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62.3% false negative rate: (as compared to 55.2% full)</a:t>
            </a:r>
            <a:endParaRPr>
              <a:solidFill>
                <a:schemeClr val="dk1"/>
              </a:solidFill>
            </a:endParaRPr>
          </a:p>
          <a:p>
            <a:pPr marL="457200" marR="50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marR="508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Wanted to minimize false negatives, so we don’t introduce bias into later iterations of the model </a:t>
            </a:r>
            <a:endParaRPr>
              <a:solidFill>
                <a:schemeClr val="dk1"/>
              </a:solidFill>
            </a:endParaRPr>
          </a:p>
          <a:p>
            <a:pPr marL="457200" marR="508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Fairness considerations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6" name="Google Shape;256;p42"/>
          <p:cNvSpPr txBox="1">
            <a:spLocks noGrp="1"/>
          </p:cNvSpPr>
          <p:nvPr>
            <p:ph type="title"/>
          </p:nvPr>
        </p:nvSpPr>
        <p:spPr>
          <a:xfrm>
            <a:off x="1144600" y="1160525"/>
            <a:ext cx="65958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Model bias and ethical considerations of demographic variables:</a:t>
            </a:r>
            <a:endParaRPr sz="1600" b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>
            <a:spLocks noGrp="1"/>
          </p:cNvSpPr>
          <p:nvPr>
            <p:ph type="title" idx="2"/>
          </p:nvPr>
        </p:nvSpPr>
        <p:spPr>
          <a:xfrm>
            <a:off x="278524" y="459625"/>
            <a:ext cx="5351400" cy="5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Recommendation:</a:t>
            </a:r>
            <a:endParaRPr sz="3800"/>
          </a:p>
        </p:txBody>
      </p:sp>
      <p:sp>
        <p:nvSpPr>
          <p:cNvPr id="262" name="Google Shape;262;p43"/>
          <p:cNvSpPr/>
          <p:nvPr/>
        </p:nvSpPr>
        <p:spPr>
          <a:xfrm>
            <a:off x="7603125" y="-58700"/>
            <a:ext cx="2269297" cy="5181600"/>
          </a:xfrm>
          <a:custGeom>
            <a:avLst/>
            <a:gdLst/>
            <a:ahLst/>
            <a:cxnLst/>
            <a:rect l="l" t="t" r="r" b="b"/>
            <a:pathLst>
              <a:path w="85344" h="207264" extrusionOk="0">
                <a:moveTo>
                  <a:pt x="0" y="0"/>
                </a:moveTo>
                <a:lnTo>
                  <a:pt x="85344" y="1524"/>
                </a:lnTo>
                <a:lnTo>
                  <a:pt x="85344" y="207264"/>
                </a:lnTo>
                <a:lnTo>
                  <a:pt x="28194" y="2072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3" name="Google Shape;263;p43"/>
          <p:cNvSpPr txBox="1">
            <a:spLocks noGrp="1"/>
          </p:cNvSpPr>
          <p:nvPr>
            <p:ph type="body" idx="4294967295"/>
          </p:nvPr>
        </p:nvSpPr>
        <p:spPr>
          <a:xfrm>
            <a:off x="449925" y="1677775"/>
            <a:ext cx="7218600" cy="23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508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While it performed the best among our models, it is more biased against certain demographics (age 65+, black) than the overall population</a:t>
            </a:r>
            <a:endParaRPr sz="1500" b="1">
              <a:solidFill>
                <a:schemeClr val="dk1"/>
              </a:solidFill>
            </a:endParaRPr>
          </a:p>
          <a:p>
            <a:pPr marL="457200" marR="50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</a:endParaRPr>
          </a:p>
          <a:p>
            <a:pPr marL="457200" marR="508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Future work would include more interactions for demographic variables and Company and Issue</a:t>
            </a:r>
            <a:endParaRPr sz="1500" b="1">
              <a:solidFill>
                <a:schemeClr val="dk1"/>
              </a:solidFill>
            </a:endParaRPr>
          </a:p>
          <a:p>
            <a:pPr marL="457200" marR="50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</a:endParaRPr>
          </a:p>
          <a:p>
            <a:pPr marL="457200" marR="508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Retraining the model, we would optimize for recall at the expense of overall accuracy</a:t>
            </a:r>
            <a:endParaRPr sz="1500" b="1">
              <a:solidFill>
                <a:schemeClr val="dk1"/>
              </a:solidFill>
            </a:endParaRPr>
          </a:p>
          <a:p>
            <a:pPr marL="457200" marR="50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</a:endParaRPr>
          </a:p>
        </p:txBody>
      </p:sp>
      <p:sp>
        <p:nvSpPr>
          <p:cNvPr id="264" name="Google Shape;264;p43"/>
          <p:cNvSpPr txBox="1">
            <a:spLocks noGrp="1"/>
          </p:cNvSpPr>
          <p:nvPr>
            <p:ph type="title" idx="2"/>
          </p:nvPr>
        </p:nvSpPr>
        <p:spPr>
          <a:xfrm>
            <a:off x="571500" y="1160525"/>
            <a:ext cx="65958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We would NOT recommend this model.</a:t>
            </a:r>
            <a:endParaRPr sz="1600" b="1" i="1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>
            <a:spLocks noGrp="1"/>
          </p:cNvSpPr>
          <p:nvPr>
            <p:ph type="title" idx="2"/>
          </p:nvPr>
        </p:nvSpPr>
        <p:spPr>
          <a:xfrm>
            <a:off x="278524" y="459625"/>
            <a:ext cx="5351400" cy="5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Final Model Score:</a:t>
            </a:r>
            <a:endParaRPr sz="3800"/>
          </a:p>
        </p:txBody>
      </p:sp>
      <p:sp>
        <p:nvSpPr>
          <p:cNvPr id="270" name="Google Shape;270;p44"/>
          <p:cNvSpPr/>
          <p:nvPr/>
        </p:nvSpPr>
        <p:spPr>
          <a:xfrm>
            <a:off x="7603125" y="-58700"/>
            <a:ext cx="2269297" cy="5181600"/>
          </a:xfrm>
          <a:custGeom>
            <a:avLst/>
            <a:gdLst/>
            <a:ahLst/>
            <a:cxnLst/>
            <a:rect l="l" t="t" r="r" b="b"/>
            <a:pathLst>
              <a:path w="85344" h="207264" extrusionOk="0">
                <a:moveTo>
                  <a:pt x="0" y="0"/>
                </a:moveTo>
                <a:lnTo>
                  <a:pt x="85344" y="1524"/>
                </a:lnTo>
                <a:lnTo>
                  <a:pt x="85344" y="207264"/>
                </a:lnTo>
                <a:lnTo>
                  <a:pt x="28194" y="2072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71" name="Google Shape;271;p44"/>
          <p:cNvGraphicFramePr/>
          <p:nvPr>
            <p:extLst>
              <p:ext uri="{D42A27DB-BD31-4B8C-83A1-F6EECF244321}">
                <p14:modId xmlns:p14="http://schemas.microsoft.com/office/powerpoint/2010/main" val="993679503"/>
              </p:ext>
            </p:extLst>
          </p:nvPr>
        </p:nvGraphicFramePr>
        <p:xfrm>
          <a:off x="1428787" y="1836143"/>
          <a:ext cx="5845900" cy="2457250"/>
        </p:xfrm>
        <a:graphic>
          <a:graphicData uri="http://schemas.openxmlformats.org/drawingml/2006/table">
            <a:tbl>
              <a:tblPr>
                <a:noFill/>
                <a:tableStyleId>{8CDAA5E8-8DA1-4129-999B-C6992B36D5CB}</a:tableStyleId>
              </a:tblPr>
              <a:tblGrid>
                <a:gridCol w="198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CATboost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Accuracy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</a:rPr>
                        <a:t>80.5%</a:t>
                      </a:r>
                      <a:endParaRPr sz="1600" dirty="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F1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</a:rPr>
                        <a:t>0.606</a:t>
                      </a:r>
                      <a:endParaRPr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False Pos.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</a:rPr>
                        <a:t>6.5%</a:t>
                      </a: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False Neg.</a:t>
                      </a:r>
                      <a:endParaRPr sz="1200" b="1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/>
                        <a:t>55.2%</a:t>
                      </a:r>
                      <a:endParaRPr sz="1600" dirty="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5"/>
          <p:cNvSpPr txBox="1">
            <a:spLocks noGrp="1"/>
          </p:cNvSpPr>
          <p:nvPr>
            <p:ph type="title" idx="2"/>
          </p:nvPr>
        </p:nvSpPr>
        <p:spPr>
          <a:xfrm>
            <a:off x="1896299" y="2000975"/>
            <a:ext cx="5351400" cy="5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Questions?</a:t>
            </a:r>
            <a:endParaRPr sz="4800"/>
          </a:p>
        </p:txBody>
      </p:sp>
      <p:sp>
        <p:nvSpPr>
          <p:cNvPr id="277" name="Google Shape;277;p45"/>
          <p:cNvSpPr/>
          <p:nvPr/>
        </p:nvSpPr>
        <p:spPr>
          <a:xfrm>
            <a:off x="7603125" y="-58700"/>
            <a:ext cx="2269297" cy="5181600"/>
          </a:xfrm>
          <a:custGeom>
            <a:avLst/>
            <a:gdLst/>
            <a:ahLst/>
            <a:cxnLst/>
            <a:rect l="l" t="t" r="r" b="b"/>
            <a:pathLst>
              <a:path w="85344" h="207264" extrusionOk="0">
                <a:moveTo>
                  <a:pt x="0" y="0"/>
                </a:moveTo>
                <a:lnTo>
                  <a:pt x="85344" y="1524"/>
                </a:lnTo>
                <a:lnTo>
                  <a:pt x="85344" y="207264"/>
                </a:lnTo>
                <a:lnTo>
                  <a:pt x="28194" y="2072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6"/>
          <p:cNvSpPr txBox="1">
            <a:spLocks noGrp="1"/>
          </p:cNvSpPr>
          <p:nvPr>
            <p:ph type="title" idx="3"/>
          </p:nvPr>
        </p:nvSpPr>
        <p:spPr>
          <a:xfrm>
            <a:off x="1886700" y="2090505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Appendix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>
            <a:spLocks noGrp="1"/>
          </p:cNvSpPr>
          <p:nvPr>
            <p:ph type="title" idx="3"/>
          </p:nvPr>
        </p:nvSpPr>
        <p:spPr>
          <a:xfrm>
            <a:off x="1909450" y="540000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Zip Code Imputation</a:t>
            </a:r>
            <a:endParaRPr/>
          </a:p>
        </p:txBody>
      </p:sp>
      <p:pic>
        <p:nvPicPr>
          <p:cNvPr id="288" name="Google Shape;288;p47" title="ZipAc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101" y="2916275"/>
            <a:ext cx="6205574" cy="157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7"/>
          <p:cNvSpPr txBox="1">
            <a:spLocks noGrp="1"/>
          </p:cNvSpPr>
          <p:nvPr>
            <p:ph type="body" idx="1"/>
          </p:nvPr>
        </p:nvSpPr>
        <p:spPr>
          <a:xfrm>
            <a:off x="1048775" y="953200"/>
            <a:ext cx="7261200" cy="18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 selected K-nearest neighbor imputation because it performed better on the missing digits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 used a subset of known zip codes and ran KNN and RF imputation on masked values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Error rates are based how well the imputed zip codes match actual values on the first X digits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 forced the final 3.5% of mismatched imputed values to the nearest valid zip code sharing the 3-digit prefix of the given zip.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After imputation, 12 observations did not match their given State or zip prefix.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One zip code straddles KY and TN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rest of the mismatched zips were not valid zip codes in our lookup.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8"/>
          <p:cNvSpPr/>
          <p:nvPr/>
        </p:nvSpPr>
        <p:spPr>
          <a:xfrm>
            <a:off x="-12925" y="2750"/>
            <a:ext cx="957300" cy="5229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95" name="Google Shape;295;p48"/>
          <p:cNvSpPr txBox="1">
            <a:spLocks noGrp="1"/>
          </p:cNvSpPr>
          <p:nvPr>
            <p:ph type="title"/>
          </p:nvPr>
        </p:nvSpPr>
        <p:spPr>
          <a:xfrm>
            <a:off x="1113750" y="283375"/>
            <a:ext cx="6916500" cy="6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Predicted Probabilities by Actual Outcome</a:t>
            </a:r>
            <a:endParaRPr/>
          </a:p>
        </p:txBody>
      </p:sp>
      <p:pic>
        <p:nvPicPr>
          <p:cNvPr id="296" name="Google Shape;29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975" y="1085050"/>
            <a:ext cx="7874052" cy="32703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9"/>
          <p:cNvSpPr txBox="1">
            <a:spLocks noGrp="1"/>
          </p:cNvSpPr>
          <p:nvPr>
            <p:ph type="title"/>
          </p:nvPr>
        </p:nvSpPr>
        <p:spPr>
          <a:xfrm>
            <a:off x="2738700" y="331400"/>
            <a:ext cx="3666600" cy="6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Overview: Winners and Losers</a:t>
            </a:r>
            <a:endParaRPr/>
          </a:p>
        </p:txBody>
      </p:sp>
      <p:sp>
        <p:nvSpPr>
          <p:cNvPr id="302" name="Google Shape;302;p49"/>
          <p:cNvSpPr/>
          <p:nvPr/>
        </p:nvSpPr>
        <p:spPr>
          <a:xfrm rot="10800000">
            <a:off x="-22" y="-7515"/>
            <a:ext cx="725296" cy="5158515"/>
          </a:xfrm>
          <a:custGeom>
            <a:avLst/>
            <a:gdLst/>
            <a:ahLst/>
            <a:cxnLst/>
            <a:rect l="l" t="t" r="r" b="b"/>
            <a:pathLst>
              <a:path w="30772" h="209016" extrusionOk="0">
                <a:moveTo>
                  <a:pt x="0" y="0"/>
                </a:moveTo>
                <a:lnTo>
                  <a:pt x="30771" y="209016"/>
                </a:lnTo>
                <a:lnTo>
                  <a:pt x="307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graphicFrame>
        <p:nvGraphicFramePr>
          <p:cNvPr id="303" name="Google Shape;303;p49"/>
          <p:cNvGraphicFramePr/>
          <p:nvPr/>
        </p:nvGraphicFramePr>
        <p:xfrm>
          <a:off x="468649" y="1438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{8CDAA5E8-8DA1-4129-999B-C6992B36D5CB}</a:tableStyleId>
              </a:tblPr>
              <a:tblGrid>
                <a:gridCol w="106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0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0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9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CATboost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Xgboost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OLS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Logit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Random Forest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Lasso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CART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Neural Net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8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Accuracy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80.55%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80.54%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78.3%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78.8%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79.6%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78.2%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79%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73.76%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F1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0.549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0.565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False Pos.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6.4%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6.5%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5.9%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6.9%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2.5%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6.9%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7.1%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49.37%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False Neg.</a:t>
                      </a:r>
                      <a:endParaRPr b="1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55.4%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55.2%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65.1%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62.8%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70.4%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62.8%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59.4%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25.69%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0"/>
          <p:cNvSpPr txBox="1">
            <a:spLocks noGrp="1"/>
          </p:cNvSpPr>
          <p:nvPr>
            <p:ph type="title" idx="3"/>
          </p:nvPr>
        </p:nvSpPr>
        <p:spPr>
          <a:xfrm>
            <a:off x="1909450" y="540000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dictionary</a:t>
            </a:r>
            <a:endParaRPr/>
          </a:p>
        </p:txBody>
      </p:sp>
      <p:sp>
        <p:nvSpPr>
          <p:cNvPr id="309" name="Google Shape;309;p50"/>
          <p:cNvSpPr txBox="1">
            <a:spLocks noGrp="1"/>
          </p:cNvSpPr>
          <p:nvPr>
            <p:ph type="body" idx="1"/>
          </p:nvPr>
        </p:nvSpPr>
        <p:spPr>
          <a:xfrm>
            <a:off x="1076825" y="924750"/>
            <a:ext cx="7261200" cy="39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508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Relief  - </a:t>
            </a:r>
            <a:r>
              <a:rPr lang="en">
                <a:solidFill>
                  <a:schemeClr val="dk1"/>
                </a:solidFill>
              </a:rPr>
              <a:t>Company response of Debt Relief (Binary 0/1)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Year - </a:t>
            </a:r>
            <a:r>
              <a:rPr lang="en">
                <a:solidFill>
                  <a:schemeClr val="dk1"/>
                </a:solidFill>
              </a:rPr>
              <a:t>factor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State - </a:t>
            </a:r>
            <a:r>
              <a:rPr lang="en">
                <a:solidFill>
                  <a:schemeClr val="dk1"/>
                </a:solidFill>
              </a:rPr>
              <a:t>Geographic variable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Pub.response -</a:t>
            </a:r>
            <a:r>
              <a:rPr lang="en">
                <a:solidFill>
                  <a:schemeClr val="dk1"/>
                </a:solidFill>
              </a:rPr>
              <a:t> Company’s Public Response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Consent - </a:t>
            </a:r>
            <a:r>
              <a:rPr lang="en">
                <a:solidFill>
                  <a:schemeClr val="dk1"/>
                </a:solidFill>
              </a:rPr>
              <a:t>Complainant consent of narrative given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Submitted.via -</a:t>
            </a:r>
            <a:r>
              <a:rPr lang="en">
                <a:solidFill>
                  <a:schemeClr val="dk1"/>
                </a:solidFill>
              </a:rPr>
              <a:t> Means of submissions such as Web, phone, postal mail etc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Timely - </a:t>
            </a:r>
            <a:r>
              <a:rPr lang="en">
                <a:solidFill>
                  <a:schemeClr val="dk1"/>
                </a:solidFill>
              </a:rPr>
              <a:t>Whether company responds within 15 days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Month, Quarter </a:t>
            </a:r>
            <a:r>
              <a:rPr lang="en">
                <a:solidFill>
                  <a:schemeClr val="dk1"/>
                </a:solidFill>
              </a:rPr>
              <a:t>- factors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LessPermits, MorePermits -</a:t>
            </a:r>
            <a:r>
              <a:rPr lang="en">
                <a:solidFill>
                  <a:schemeClr val="dk1"/>
                </a:solidFill>
              </a:rPr>
              <a:t> whether a county had high or low levels of housing building permits 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ShareOfPeopleOfColor -</a:t>
            </a:r>
            <a:r>
              <a:rPr lang="en">
                <a:solidFill>
                  <a:schemeClr val="dk1"/>
                </a:solidFill>
              </a:rPr>
              <a:t> proportion of county made up of people of color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CI_score -  </a:t>
            </a:r>
            <a:r>
              <a:rPr lang="en">
                <a:solidFill>
                  <a:schemeClr val="dk1"/>
                </a:solidFill>
              </a:rPr>
              <a:t>Score based on Credit Insecurity Index (CII) by the New York Fed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NotCreditIncluded</a:t>
            </a:r>
            <a:r>
              <a:rPr lang="en">
                <a:solidFill>
                  <a:schemeClr val="dk1"/>
                </a:solidFill>
              </a:rPr>
              <a:t> - proportion of county with no credit history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CreditConstrained </a:t>
            </a:r>
            <a:r>
              <a:rPr lang="en">
                <a:solidFill>
                  <a:schemeClr val="dk1"/>
                </a:solidFill>
              </a:rPr>
              <a:t>- proportion of county who are credit constrained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CreditTier - </a:t>
            </a:r>
            <a:r>
              <a:rPr lang="en">
                <a:solidFill>
                  <a:schemeClr val="dk1"/>
                </a:solidFill>
              </a:rPr>
              <a:t>Numbered factors 1-5, indicating county-level credit security</a:t>
            </a:r>
            <a:r>
              <a:rPr lang="en" b="1">
                <a:solidFill>
                  <a:schemeClr val="dk1"/>
                </a:solidFill>
              </a:rPr>
              <a:t>    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</a:rPr>
              <a:t>    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1"/>
          <p:cNvSpPr txBox="1">
            <a:spLocks noGrp="1"/>
          </p:cNvSpPr>
          <p:nvPr>
            <p:ph type="title" idx="3"/>
          </p:nvPr>
        </p:nvSpPr>
        <p:spPr>
          <a:xfrm>
            <a:off x="1909450" y="540000"/>
            <a:ext cx="5370600" cy="2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dictionary</a:t>
            </a:r>
            <a:endParaRPr/>
          </a:p>
        </p:txBody>
      </p:sp>
      <p:sp>
        <p:nvSpPr>
          <p:cNvPr id="315" name="Google Shape;315;p51"/>
          <p:cNvSpPr txBox="1">
            <a:spLocks noGrp="1"/>
          </p:cNvSpPr>
          <p:nvPr>
            <p:ph type="body" idx="1"/>
          </p:nvPr>
        </p:nvSpPr>
        <p:spPr>
          <a:xfrm>
            <a:off x="776331" y="540000"/>
            <a:ext cx="8205900" cy="43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Studio_fmr, OneRoom_fmr, TwoRoom_fmr, ThreeRoom_fmr, FourRoom_fmr  -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</a:rPr>
              <a:t>Fair market rent for various units         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Permit_Units, Permit_Valuation  -</a:t>
            </a:r>
            <a:r>
              <a:rPr lang="en">
                <a:solidFill>
                  <a:schemeClr val="dk1"/>
                </a:solidFill>
              </a:rPr>
              <a:t> Housing permits issued    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PCTUI_PT    -</a:t>
            </a:r>
            <a:r>
              <a:rPr lang="en">
                <a:solidFill>
                  <a:schemeClr val="dk1"/>
                </a:solidFill>
              </a:rPr>
              <a:t> percentage uninsured in specified geographic area from SAHIE         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pct_bach_degree   - </a:t>
            </a:r>
            <a:r>
              <a:rPr lang="en">
                <a:solidFill>
                  <a:schemeClr val="dk1"/>
                </a:solidFill>
              </a:rPr>
              <a:t>percentage of the population that are 25+ with a bachelors degree or higher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is_servicemember 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is_older_american  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prop_young, prop_65plus - </a:t>
            </a:r>
            <a:r>
              <a:rPr lang="en">
                <a:solidFill>
                  <a:schemeClr val="dk1"/>
                </a:solidFill>
              </a:rPr>
              <a:t>Proportion of people under 25, and older than 65 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Prop_female, prop_hispanic, prop_black, prop_black_fem -</a:t>
            </a:r>
            <a:r>
              <a:rPr lang="en">
                <a:solidFill>
                  <a:schemeClr val="dk1"/>
                </a:solidFill>
              </a:rPr>
              <a:t> proportion of respective demographic variables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is_older_county  - </a:t>
            </a:r>
            <a:r>
              <a:rPr lang="en">
                <a:solidFill>
                  <a:schemeClr val="dk1"/>
                </a:solidFill>
              </a:rPr>
              <a:t>1 if county has higher than average proportion of people older than 65, 0 otherwise.  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cluster -</a:t>
            </a:r>
            <a:r>
              <a:rPr lang="en">
                <a:solidFill>
                  <a:schemeClr val="dk1"/>
                </a:solidFill>
              </a:rPr>
              <a:t>  cluster made up of PC1, Year, Issue, Share of people of color, prop_young, prop_65plus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Company  - </a:t>
            </a:r>
            <a:r>
              <a:rPr lang="en">
                <a:solidFill>
                  <a:schemeClr val="dk1"/>
                </a:solidFill>
              </a:rPr>
              <a:t>company name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 b="1">
                <a:solidFill>
                  <a:schemeClr val="dk1"/>
                </a:solidFill>
              </a:rPr>
              <a:t>Issue_combined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</a:rPr>
              <a:t> -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variable combining customer issue and sub-issue   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e Company Profile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9E9E9E"/>
      </a:accent2>
      <a:accent3>
        <a:srgbClr val="FFAB40"/>
      </a:accent3>
      <a:accent4>
        <a:srgbClr val="9E9E9E"/>
      </a:accent4>
      <a:accent5>
        <a:srgbClr val="FFAB40"/>
      </a:accent5>
      <a:accent6>
        <a:srgbClr val="9E9E9E"/>
      </a:accent6>
      <a:hlink>
        <a:srgbClr val="9E9E9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1631</Words>
  <Application>Microsoft Macintosh PowerPoint</Application>
  <PresentationFormat>On-screen Show (16:9)</PresentationFormat>
  <Paragraphs>277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Montserrat Black</vt:lpstr>
      <vt:lpstr>Nunito Light</vt:lpstr>
      <vt:lpstr>Roboto</vt:lpstr>
      <vt:lpstr>Arial</vt:lpstr>
      <vt:lpstr>Roboto Light</vt:lpstr>
      <vt:lpstr>Montserrat</vt:lpstr>
      <vt:lpstr>Blace Company Profile by Slidesgo</vt:lpstr>
      <vt:lpstr>Predicting Credit Card Debt Relief</vt:lpstr>
      <vt:lpstr>Research Question &amp; Data</vt:lpstr>
      <vt:lpstr>Data Discussion</vt:lpstr>
      <vt:lpstr>Data Discussion</vt:lpstr>
      <vt:lpstr>01</vt:lpstr>
      <vt:lpstr>Priorities</vt:lpstr>
      <vt:lpstr>Model Selection: Winners and Losers</vt:lpstr>
      <vt:lpstr>Final Model: CatBoost </vt:lpstr>
      <vt:lpstr>Model Interpretation</vt:lpstr>
      <vt:lpstr>Models not chosen</vt:lpstr>
      <vt:lpstr>02</vt:lpstr>
      <vt:lpstr>Test Data Confusion Matrix</vt:lpstr>
      <vt:lpstr>Cost of Living </vt:lpstr>
      <vt:lpstr>Ethical Considerations</vt:lpstr>
      <vt:lpstr>Recommendation:</vt:lpstr>
      <vt:lpstr>Final Model Score:</vt:lpstr>
      <vt:lpstr>Questions?</vt:lpstr>
      <vt:lpstr>Appendix</vt:lpstr>
      <vt:lpstr>Zip Code Imputation</vt:lpstr>
      <vt:lpstr>Predicted Probabilities by Actual Outcome</vt:lpstr>
      <vt:lpstr>Model Overview: Winners and Losers</vt:lpstr>
      <vt:lpstr>Data dictionary</vt:lpstr>
      <vt:lpstr>Data dictionary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Matt Amor</cp:lastModifiedBy>
  <cp:revision>3</cp:revision>
  <dcterms:modified xsi:type="dcterms:W3CDTF">2026-04-26T19:26:58Z</dcterms:modified>
</cp:coreProperties>
</file>